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2"/>
  </p:notesMasterIdLst>
  <p:sldIdLst>
    <p:sldId id="256" r:id="rId2"/>
    <p:sldId id="303" r:id="rId3"/>
    <p:sldId id="305" r:id="rId4"/>
    <p:sldId id="257" r:id="rId5"/>
    <p:sldId id="310" r:id="rId6"/>
    <p:sldId id="313" r:id="rId7"/>
    <p:sldId id="314" r:id="rId8"/>
    <p:sldId id="315" r:id="rId9"/>
    <p:sldId id="316" r:id="rId10"/>
    <p:sldId id="308" r:id="rId11"/>
    <p:sldId id="311" r:id="rId12"/>
    <p:sldId id="320" r:id="rId13"/>
    <p:sldId id="309" r:id="rId14"/>
    <p:sldId id="302" r:id="rId15"/>
    <p:sldId id="301" r:id="rId16"/>
    <p:sldId id="304" r:id="rId17"/>
    <p:sldId id="317" r:id="rId18"/>
    <p:sldId id="319" r:id="rId19"/>
    <p:sldId id="318" r:id="rId20"/>
    <p:sldId id="307" r:id="rId21"/>
  </p:sldIdLst>
  <p:sldSz cx="9144000" cy="5143500" type="screen16x9"/>
  <p:notesSz cx="6858000" cy="9144000"/>
  <p:embeddedFontLst>
    <p:embeddedFont>
      <p:font typeface="Overpass" panose="020B0604020202020204" charset="0"/>
      <p:regular r:id="rId23"/>
      <p:bold r:id="rId24"/>
      <p:italic r:id="rId25"/>
      <p:boldItalic r:id="rId26"/>
    </p:embeddedFont>
    <p:embeddedFont>
      <p:font typeface="Roboto Condensed Light" panose="02000000000000000000" pitchFamily="2" charset="0"/>
      <p:regular r:id="rId27"/>
      <p:italic r:id="rId28"/>
    </p:embeddedFont>
    <p:embeddedFont>
      <p:font typeface="Russo One" panose="020B060402020202020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68A60E-5696-4536-934F-09120A050F81}" v="2" dt="2026-01-13T08:33:02.942"/>
  </p1510:revLst>
</p1510:revInfo>
</file>

<file path=ppt/tableStyles.xml><?xml version="1.0" encoding="utf-8"?>
<a:tblStyleLst xmlns:a="http://schemas.openxmlformats.org/drawingml/2006/main" def="{C281357D-0785-4AC5-BA60-C3EFEDBA6016}">
  <a:tblStyle styleId="{C281357D-0785-4AC5-BA60-C3EFEDBA60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44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Ze TLC" userId="2a18e703374e67a1" providerId="LiveId" clId="{233CDB52-9A3F-4323-A8EF-4EBB6B7CCD74}"/>
    <pc:docChg chg="modSld">
      <pc:chgData name="CyZe TLC" userId="2a18e703374e67a1" providerId="LiveId" clId="{233CDB52-9A3F-4323-A8EF-4EBB6B7CCD74}" dt="2026-01-13T10:31:30.525" v="11" actId="20577"/>
      <pc:docMkLst>
        <pc:docMk/>
      </pc:docMkLst>
      <pc:sldChg chg="modSp mod">
        <pc:chgData name="CyZe TLC" userId="2a18e703374e67a1" providerId="LiveId" clId="{233CDB52-9A3F-4323-A8EF-4EBB6B7CCD74}" dt="2026-01-13T10:31:30.525" v="11" actId="20577"/>
        <pc:sldMkLst>
          <pc:docMk/>
          <pc:sldMk cId="0" sldId="256"/>
        </pc:sldMkLst>
        <pc:spChg chg="mod">
          <ac:chgData name="CyZe TLC" userId="2a18e703374e67a1" providerId="LiveId" clId="{233CDB52-9A3F-4323-A8EF-4EBB6B7CCD74}" dt="2026-01-13T10:31:30.525" v="11" actId="20577"/>
          <ac:spMkLst>
            <pc:docMk/>
            <pc:sldMk cId="0" sldId="256"/>
            <ac:spMk id="134" creationId="{00000000-0000-0000-0000-000000000000}"/>
          </ac:spMkLst>
        </pc:spChg>
      </pc:sldChg>
      <pc:sldChg chg="modSp mod">
        <pc:chgData name="CyZe TLC" userId="2a18e703374e67a1" providerId="LiveId" clId="{233CDB52-9A3F-4323-A8EF-4EBB6B7CCD74}" dt="2026-01-13T08:33:05.837" v="3" actId="14100"/>
        <pc:sldMkLst>
          <pc:docMk/>
          <pc:sldMk cId="671176393" sldId="301"/>
        </pc:sldMkLst>
        <pc:picChg chg="mod">
          <ac:chgData name="CyZe TLC" userId="2a18e703374e67a1" providerId="LiveId" clId="{233CDB52-9A3F-4323-A8EF-4EBB6B7CCD74}" dt="2026-01-13T08:33:05.837" v="3" actId="14100"/>
          <ac:picMkLst>
            <pc:docMk/>
            <pc:sldMk cId="671176393" sldId="301"/>
            <ac:picMk id="5" creationId="{F592D23D-CDF6-10C6-1BEF-800EC706074A}"/>
          </ac:picMkLst>
        </pc:picChg>
      </pc:sldChg>
      <pc:sldChg chg="modSp mod">
        <pc:chgData name="CyZe TLC" userId="2a18e703374e67a1" providerId="LiveId" clId="{233CDB52-9A3F-4323-A8EF-4EBB6B7CCD74}" dt="2026-01-13T08:32:52.686" v="1" actId="14100"/>
        <pc:sldMkLst>
          <pc:docMk/>
          <pc:sldMk cId="1170070369" sldId="302"/>
        </pc:sldMkLst>
        <pc:picChg chg="mod">
          <ac:chgData name="CyZe TLC" userId="2a18e703374e67a1" providerId="LiveId" clId="{233CDB52-9A3F-4323-A8EF-4EBB6B7CCD74}" dt="2026-01-13T08:32:52.686" v="1" actId="14100"/>
          <ac:picMkLst>
            <pc:docMk/>
            <pc:sldMk cId="1170070369" sldId="302"/>
            <ac:picMk id="3" creationId="{66FD76BA-DFC8-1AB7-7405-336ADDBEE795}"/>
          </ac:picMkLst>
        </pc:picChg>
      </pc:sldChg>
    </pc:docChg>
  </pc:docChgLst>
  <pc:docChgLst>
    <pc:chgData name="CyZe TLC" userId="2a18e703374e67a1" providerId="LiveId" clId="{ED10A90C-94E7-421F-9020-97FEBAC6A291}"/>
    <pc:docChg chg="undo redo custSel addSld delSld modSld sldOrd">
      <pc:chgData name="CyZe TLC" userId="2a18e703374e67a1" providerId="LiveId" clId="{ED10A90C-94E7-421F-9020-97FEBAC6A291}" dt="2026-01-12T13:26:56.816" v="281" actId="2696"/>
      <pc:docMkLst>
        <pc:docMk/>
      </pc:docMkLst>
      <pc:sldChg chg="ord">
        <pc:chgData name="CyZe TLC" userId="2a18e703374e67a1" providerId="LiveId" clId="{ED10A90C-94E7-421F-9020-97FEBAC6A291}" dt="2026-01-08T18:00:52.117" v="92"/>
        <pc:sldMkLst>
          <pc:docMk/>
          <pc:sldMk cId="4710553" sldId="310"/>
        </pc:sldMkLst>
      </pc:sldChg>
      <pc:sldChg chg="modSp mod">
        <pc:chgData name="CyZe TLC" userId="2a18e703374e67a1" providerId="LiveId" clId="{ED10A90C-94E7-421F-9020-97FEBAC6A291}" dt="2026-01-10T11:26:27.360" v="263"/>
        <pc:sldMkLst>
          <pc:docMk/>
          <pc:sldMk cId="427494203" sldId="311"/>
        </pc:sldMkLst>
        <pc:spChg chg="mod">
          <ac:chgData name="CyZe TLC" userId="2a18e703374e67a1" providerId="LiveId" clId="{ED10A90C-94E7-421F-9020-97FEBAC6A291}" dt="2026-01-10T11:23:27.185" v="213" actId="20577"/>
          <ac:spMkLst>
            <pc:docMk/>
            <pc:sldMk cId="427494203" sldId="311"/>
            <ac:spMk id="142" creationId="{96357CF6-3B8F-BD5B-28C9-3D3EECC8BB16}"/>
          </ac:spMkLst>
        </pc:spChg>
        <pc:spChg chg="mod">
          <ac:chgData name="CyZe TLC" userId="2a18e703374e67a1" providerId="LiveId" clId="{ED10A90C-94E7-421F-9020-97FEBAC6A291}" dt="2026-01-10T11:26:27.360" v="263"/>
          <ac:spMkLst>
            <pc:docMk/>
            <pc:sldMk cId="427494203" sldId="311"/>
            <ac:spMk id="143" creationId="{30BD3CF6-E80A-93C9-FC63-A1B58F78C659}"/>
          </ac:spMkLst>
        </pc:spChg>
      </pc:sldChg>
      <pc:sldChg chg="del">
        <pc:chgData name="CyZe TLC" userId="2a18e703374e67a1" providerId="LiveId" clId="{ED10A90C-94E7-421F-9020-97FEBAC6A291}" dt="2026-01-12T13:26:56.816" v="281" actId="2696"/>
        <pc:sldMkLst>
          <pc:docMk/>
          <pc:sldMk cId="1930626787" sldId="312"/>
        </pc:sldMkLst>
      </pc:sldChg>
      <pc:sldChg chg="modSp add mod ord">
        <pc:chgData name="CyZe TLC" userId="2a18e703374e67a1" providerId="LiveId" clId="{ED10A90C-94E7-421F-9020-97FEBAC6A291}" dt="2026-01-08T18:00:52.117" v="92"/>
        <pc:sldMkLst>
          <pc:docMk/>
          <pc:sldMk cId="1186641561" sldId="313"/>
        </pc:sldMkLst>
        <pc:spChg chg="mod">
          <ac:chgData name="CyZe TLC" userId="2a18e703374e67a1" providerId="LiveId" clId="{ED10A90C-94E7-421F-9020-97FEBAC6A291}" dt="2026-01-08T17:42:43.403" v="33" actId="20577"/>
          <ac:spMkLst>
            <pc:docMk/>
            <pc:sldMk cId="1186641561" sldId="313"/>
            <ac:spMk id="142" creationId="{3F641B2D-4C95-3CF4-D6D9-B8E46FE2B058}"/>
          </ac:spMkLst>
        </pc:spChg>
        <pc:picChg chg="mod">
          <ac:chgData name="CyZe TLC" userId="2a18e703374e67a1" providerId="LiveId" clId="{ED10A90C-94E7-421F-9020-97FEBAC6A291}" dt="2026-01-08T17:42:43.123" v="32" actId="1076"/>
          <ac:picMkLst>
            <pc:docMk/>
            <pc:sldMk cId="1186641561" sldId="313"/>
            <ac:picMk id="5" creationId="{DC3C73EE-9323-7E58-190A-4B55F4B039B6}"/>
          </ac:picMkLst>
        </pc:picChg>
      </pc:sldChg>
      <pc:sldChg chg="addSp modSp add mod ord">
        <pc:chgData name="CyZe TLC" userId="2a18e703374e67a1" providerId="LiveId" clId="{ED10A90C-94E7-421F-9020-97FEBAC6A291}" dt="2026-01-08T18:00:52.117" v="92"/>
        <pc:sldMkLst>
          <pc:docMk/>
          <pc:sldMk cId="1555662381" sldId="314"/>
        </pc:sldMkLst>
        <pc:spChg chg="mod">
          <ac:chgData name="CyZe TLC" userId="2a18e703374e67a1" providerId="LiveId" clId="{ED10A90C-94E7-421F-9020-97FEBAC6A291}" dt="2026-01-08T17:44:01.440" v="55"/>
          <ac:spMkLst>
            <pc:docMk/>
            <pc:sldMk cId="1555662381" sldId="314"/>
            <ac:spMk id="142" creationId="{BCA21B73-083A-2F8E-178A-87E3818DAFDE}"/>
          </ac:spMkLst>
        </pc:spChg>
        <pc:spChg chg="mod">
          <ac:chgData name="CyZe TLC" userId="2a18e703374e67a1" providerId="LiveId" clId="{ED10A90C-94E7-421F-9020-97FEBAC6A291}" dt="2026-01-08T17:45:23.009" v="78" actId="20577"/>
          <ac:spMkLst>
            <pc:docMk/>
            <pc:sldMk cId="1555662381" sldId="314"/>
            <ac:spMk id="143" creationId="{DDB3700E-5E9A-C59E-39A4-FFBED92E5BC2}"/>
          </ac:spMkLst>
        </pc:spChg>
      </pc:sldChg>
      <pc:sldChg chg="modSp add mod ord">
        <pc:chgData name="CyZe TLC" userId="2a18e703374e67a1" providerId="LiveId" clId="{ED10A90C-94E7-421F-9020-97FEBAC6A291}" dt="2026-01-08T18:00:52.117" v="92"/>
        <pc:sldMkLst>
          <pc:docMk/>
          <pc:sldMk cId="3825764012" sldId="315"/>
        </pc:sldMkLst>
        <pc:spChg chg="mod">
          <ac:chgData name="CyZe TLC" userId="2a18e703374e67a1" providerId="LiveId" clId="{ED10A90C-94E7-421F-9020-97FEBAC6A291}" dt="2026-01-08T17:45:30.584" v="80"/>
          <ac:spMkLst>
            <pc:docMk/>
            <pc:sldMk cId="3825764012" sldId="315"/>
            <ac:spMk id="142" creationId="{FDDA4FE1-068D-ABD0-969E-97B60F339133}"/>
          </ac:spMkLst>
        </pc:spChg>
        <pc:spChg chg="mod">
          <ac:chgData name="CyZe TLC" userId="2a18e703374e67a1" providerId="LiveId" clId="{ED10A90C-94E7-421F-9020-97FEBAC6A291}" dt="2026-01-08T17:45:41.197" v="83" actId="20577"/>
          <ac:spMkLst>
            <pc:docMk/>
            <pc:sldMk cId="3825764012" sldId="315"/>
            <ac:spMk id="143" creationId="{2021432A-0AC0-1B74-0F5F-16B162F2ABB4}"/>
          </ac:spMkLst>
        </pc:spChg>
      </pc:sldChg>
      <pc:sldChg chg="modSp add mod ord">
        <pc:chgData name="CyZe TLC" userId="2a18e703374e67a1" providerId="LiveId" clId="{ED10A90C-94E7-421F-9020-97FEBAC6A291}" dt="2026-01-08T18:00:52.117" v="92"/>
        <pc:sldMkLst>
          <pc:docMk/>
          <pc:sldMk cId="1306619471" sldId="316"/>
        </pc:sldMkLst>
        <pc:spChg chg="mod">
          <ac:chgData name="CyZe TLC" userId="2a18e703374e67a1" providerId="LiveId" clId="{ED10A90C-94E7-421F-9020-97FEBAC6A291}" dt="2026-01-08T17:45:47.639" v="85"/>
          <ac:spMkLst>
            <pc:docMk/>
            <pc:sldMk cId="1306619471" sldId="316"/>
            <ac:spMk id="142" creationId="{DAA3502B-0A90-C64F-2883-DFC7D915B6D2}"/>
          </ac:spMkLst>
        </pc:spChg>
        <pc:spChg chg="mod">
          <ac:chgData name="CyZe TLC" userId="2a18e703374e67a1" providerId="LiveId" clId="{ED10A90C-94E7-421F-9020-97FEBAC6A291}" dt="2026-01-08T17:45:58.589" v="89" actId="20577"/>
          <ac:spMkLst>
            <pc:docMk/>
            <pc:sldMk cId="1306619471" sldId="316"/>
            <ac:spMk id="143" creationId="{46325A3E-A2FC-8498-A5EF-5EE8A1835E86}"/>
          </ac:spMkLst>
        </pc:spChg>
      </pc:sldChg>
      <pc:sldChg chg="modSp add mod ord">
        <pc:chgData name="CyZe TLC" userId="2a18e703374e67a1" providerId="LiveId" clId="{ED10A90C-94E7-421F-9020-97FEBAC6A291}" dt="2026-01-10T11:21:58.525" v="169" actId="20577"/>
        <pc:sldMkLst>
          <pc:docMk/>
          <pc:sldMk cId="574686153" sldId="317"/>
        </pc:sldMkLst>
        <pc:spChg chg="mod">
          <ac:chgData name="CyZe TLC" userId="2a18e703374e67a1" providerId="LiveId" clId="{ED10A90C-94E7-421F-9020-97FEBAC6A291}" dt="2026-01-10T11:21:44.594" v="162" actId="20577"/>
          <ac:spMkLst>
            <pc:docMk/>
            <pc:sldMk cId="574686153" sldId="317"/>
            <ac:spMk id="142" creationId="{C411E13A-0192-ECDC-D1C5-20E64459F305}"/>
          </ac:spMkLst>
        </pc:spChg>
        <pc:spChg chg="mod">
          <ac:chgData name="CyZe TLC" userId="2a18e703374e67a1" providerId="LiveId" clId="{ED10A90C-94E7-421F-9020-97FEBAC6A291}" dt="2026-01-10T11:21:58.525" v="169" actId="20577"/>
          <ac:spMkLst>
            <pc:docMk/>
            <pc:sldMk cId="574686153" sldId="317"/>
            <ac:spMk id="143" creationId="{D3C697AD-3D48-81C6-94C4-B3FBC7B3C088}"/>
          </ac:spMkLst>
        </pc:spChg>
      </pc:sldChg>
      <pc:sldChg chg="modSp add mod">
        <pc:chgData name="CyZe TLC" userId="2a18e703374e67a1" providerId="LiveId" clId="{ED10A90C-94E7-421F-9020-97FEBAC6A291}" dt="2026-01-10T11:22:30.354" v="189" actId="20577"/>
        <pc:sldMkLst>
          <pc:docMk/>
          <pc:sldMk cId="4168528662" sldId="318"/>
        </pc:sldMkLst>
        <pc:spChg chg="mod">
          <ac:chgData name="CyZe TLC" userId="2a18e703374e67a1" providerId="LiveId" clId="{ED10A90C-94E7-421F-9020-97FEBAC6A291}" dt="2026-01-10T11:22:26.825" v="188" actId="20577"/>
          <ac:spMkLst>
            <pc:docMk/>
            <pc:sldMk cId="4168528662" sldId="318"/>
            <ac:spMk id="142" creationId="{D9E3A8B4-0B3F-E12A-811D-3BC2A04CA13D}"/>
          </ac:spMkLst>
        </pc:spChg>
        <pc:spChg chg="mod">
          <ac:chgData name="CyZe TLC" userId="2a18e703374e67a1" providerId="LiveId" clId="{ED10A90C-94E7-421F-9020-97FEBAC6A291}" dt="2026-01-10T11:22:30.354" v="189" actId="20577"/>
          <ac:spMkLst>
            <pc:docMk/>
            <pc:sldMk cId="4168528662" sldId="318"/>
            <ac:spMk id="143" creationId="{12841F64-ED11-1C83-8BC0-155806BA2821}"/>
          </ac:spMkLst>
        </pc:spChg>
      </pc:sldChg>
      <pc:sldChg chg="modSp add mod ord">
        <pc:chgData name="CyZe TLC" userId="2a18e703374e67a1" providerId="LiveId" clId="{ED10A90C-94E7-421F-9020-97FEBAC6A291}" dt="2026-01-10T11:22:19.484" v="178"/>
        <pc:sldMkLst>
          <pc:docMk/>
          <pc:sldMk cId="4144699183" sldId="319"/>
        </pc:sldMkLst>
        <pc:spChg chg="mod">
          <ac:chgData name="CyZe TLC" userId="2a18e703374e67a1" providerId="LiveId" clId="{ED10A90C-94E7-421F-9020-97FEBAC6A291}" dt="2026-01-10T11:22:14.645" v="176" actId="20577"/>
          <ac:spMkLst>
            <pc:docMk/>
            <pc:sldMk cId="4144699183" sldId="319"/>
            <ac:spMk id="143" creationId="{FE85F512-FA0D-497B-0044-9F9985B1B6E6}"/>
          </ac:spMkLst>
        </pc:spChg>
      </pc:sldChg>
      <pc:sldChg chg="modSp add mod">
        <pc:chgData name="CyZe TLC" userId="2a18e703374e67a1" providerId="LiveId" clId="{ED10A90C-94E7-421F-9020-97FEBAC6A291}" dt="2026-01-10T11:26:54.850" v="280" actId="15"/>
        <pc:sldMkLst>
          <pc:docMk/>
          <pc:sldMk cId="2293616569" sldId="320"/>
        </pc:sldMkLst>
        <pc:spChg chg="mod">
          <ac:chgData name="CyZe TLC" userId="2a18e703374e67a1" providerId="LiveId" clId="{ED10A90C-94E7-421F-9020-97FEBAC6A291}" dt="2026-01-10T11:26:54.850" v="280" actId="15"/>
          <ac:spMkLst>
            <pc:docMk/>
            <pc:sldMk cId="2293616569" sldId="320"/>
            <ac:spMk id="143" creationId="{CCDD17BD-9BAE-8A62-176D-76D85A9E90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7C9A220-5B18-9947-6513-547EFF255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A074F62F-2223-1E90-03C2-A6225D97F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03FCCB20-AB94-95C5-7200-06D8424CC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3456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7D54AE1-84FB-2B6B-8E94-8B0F8D720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503E6AAD-086D-ECFE-405F-C3BF5AC01D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C51104D7-516C-5293-91B2-62C9BE227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8811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9831501-216D-0DDB-E4D0-B2B77BFAA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3D925AD7-323C-5739-C217-7CB80212C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5B2897B6-B4A0-F49D-DB1B-A7CE9F4D8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041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DB96F5A-3090-2322-B026-7F18A1273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773ACF2F-82F4-BE32-28F2-3A16483B61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3323FBF1-3034-FDDA-8845-215BFBEF4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3319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77B47BA-AFB5-9F80-0C11-22012EA8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10B08AEB-49B2-4A97-9AB6-DA71E70BB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34F46A86-74EB-EC4D-6467-56EEF60CE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924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D6103FA-835C-87E9-45C0-171D23E2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4552623C-7CCF-8BD7-9FBA-2BC223F569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5C3E4A67-FBC3-83ED-60C4-189F15B06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2082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34422D1-FEE7-F7A0-1DBE-56550034E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63F8F8A3-ED0A-1BAB-AA05-C96D9BF9B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12A70E77-AAEA-B708-39F0-2ABCAEC635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0415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F054807-8264-729B-998F-67EFAC6DC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2F397EFD-3853-8E79-1207-AB1EDDB7D6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FA02DE65-FBD1-61E5-5218-3F880C1D98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8290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77B7436-4639-0B37-B813-E22ED763B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23B224D8-D6AE-4BBA-A988-61F6FF2E1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755F1695-589D-A2C8-515C-011475AFE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6551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6DE2D46-78DD-B744-8195-560766AF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297880D3-ADAA-78B4-E238-F5AA75CDC3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2B5EB3D2-B2B4-3972-9B02-C21B3D6B5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91355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0C04396-CA0F-A3AD-D148-06C72F43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9A46A386-1311-2CB0-ED17-0D2E97BFCC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794CDC01-4F30-A019-D46A-0E53F730C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9784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1DF90B5-6CEC-E706-991F-7BD02FF11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3FF56C3D-2D30-3CBF-6A9D-8E6A77F91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1318D37D-85AC-2BD8-60B3-9F2BE386D4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2395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65639DD-A2C5-CFAC-8FED-065FDEC4F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2405680F-2783-FD5B-B863-FC180D1DC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41BA3579-5E07-931D-3619-A9AEE0E0FA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384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5B4DE91-C8DF-5F4B-BDD5-83D193F7E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19418D31-4878-033D-639A-67BEDB924D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97739D65-6E5E-609D-350B-7147304B9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08599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E60BD62-8E1F-4A18-13F0-861EDBB06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FF5BAF9B-EC12-BBA6-314C-159BA05D2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A55682D1-B136-DA71-804C-D865067D12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93287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A8BBED4-2F26-8AD2-E458-C7D2DDA04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ABFE0194-16D4-D9D3-4519-1BF9EB98D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33E11323-7871-4A16-648A-DF98EAD8E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620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FF9B163-A51B-6992-C944-E1DB609A0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9C3D7E41-9753-EC42-2C61-4063EB249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6CE7E0F4-7880-22D4-4775-F24BB8E9AA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653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39DAC5B-5945-E468-E7A7-9AE4925D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613d517d8_0_1:notes">
            <a:extLst>
              <a:ext uri="{FF2B5EF4-FFF2-40B4-BE49-F238E27FC236}">
                <a16:creationId xmlns:a16="http://schemas.microsoft.com/office/drawing/2014/main" id="{64261FA6-253E-C531-7C11-5749F4F479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613d517d8_0_1:notes">
            <a:extLst>
              <a:ext uri="{FF2B5EF4-FFF2-40B4-BE49-F238E27FC236}">
                <a16:creationId xmlns:a16="http://schemas.microsoft.com/office/drawing/2014/main" id="{3A1C4602-6FA4-9D52-EA62-543DAA57C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423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21800" y="1006350"/>
            <a:ext cx="51375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21800" y="3366913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048550"/>
            <a:ext cx="7704000" cy="3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usso One"/>
              <a:buNone/>
              <a:defRPr sz="30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72" r:id="rId3"/>
    <p:sldLayoutId id="2147483673" r:id="rId4"/>
    <p:sldLayoutId id="214748367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4">
            <a:alphaModFix/>
          </a:blip>
          <a:srcRect b="29839"/>
          <a:stretch/>
        </p:blipFill>
        <p:spPr>
          <a:xfrm>
            <a:off x="6604900" y="-27775"/>
            <a:ext cx="2388624" cy="3394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2"/>
          <p:cNvPicPr preferRelativeResize="0"/>
          <p:nvPr/>
        </p:nvPicPr>
        <p:blipFill rotWithShape="1">
          <a:blip r:embed="rId5">
            <a:alphaModFix/>
          </a:blip>
          <a:srcRect t="29168" b="21833"/>
          <a:stretch/>
        </p:blipFill>
        <p:spPr>
          <a:xfrm>
            <a:off x="6604900" y="1256237"/>
            <a:ext cx="2539101" cy="2520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9764" y="1597150"/>
            <a:ext cx="1711874" cy="347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2"/>
          <p:cNvPicPr preferRelativeResize="0"/>
          <p:nvPr/>
        </p:nvPicPr>
        <p:blipFill rotWithShape="1">
          <a:blip r:embed="rId7">
            <a:alphaModFix/>
          </a:blip>
          <a:srcRect t="14781" b="12722"/>
          <a:stretch/>
        </p:blipFill>
        <p:spPr>
          <a:xfrm>
            <a:off x="6027937" y="1542950"/>
            <a:ext cx="1796775" cy="26412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2"/>
          <p:cNvSpPr txBox="1">
            <a:spLocks noGrp="1"/>
          </p:cNvSpPr>
          <p:nvPr>
            <p:ph type="ctrTitle"/>
          </p:nvPr>
        </p:nvSpPr>
        <p:spPr>
          <a:xfrm>
            <a:off x="821800" y="1006350"/>
            <a:ext cx="51375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ARES</a:t>
            </a:r>
            <a:br>
              <a:rPr lang="en" dirty="0"/>
            </a:br>
            <a:r>
              <a:rPr lang="en" dirty="0"/>
              <a:t>LOGISTIK VERWALTUNG</a:t>
            </a:r>
            <a:endParaRPr dirty="0"/>
          </a:p>
        </p:txBody>
      </p:sp>
      <p:sp>
        <p:nvSpPr>
          <p:cNvPr id="135" name="Google Shape;135;p32"/>
          <p:cNvSpPr txBox="1">
            <a:spLocks noGrp="1"/>
          </p:cNvSpPr>
          <p:nvPr>
            <p:ph type="subTitle" idx="1"/>
          </p:nvPr>
        </p:nvSpPr>
        <p:spPr>
          <a:xfrm>
            <a:off x="821800" y="3366913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WS 25/26</a:t>
            </a:r>
            <a:endParaRPr dirty="0"/>
          </a:p>
        </p:txBody>
      </p:sp>
      <p:pic>
        <p:nvPicPr>
          <p:cNvPr id="136" name="Google Shape;136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81569" y="4315301"/>
            <a:ext cx="2282025" cy="151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88456" y="3822776"/>
            <a:ext cx="2282025" cy="151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29E8390-D13D-0A11-E0D2-DE07AAD41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D17F8170-CC55-447F-D116-C7751CB2BB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43" name="Google Shape;143;p33">
            <a:extLst>
              <a:ext uri="{FF2B5EF4-FFF2-40B4-BE49-F238E27FC236}">
                <a16:creationId xmlns:a16="http://schemas.microsoft.com/office/drawing/2014/main" id="{0992053A-62C6-224B-B856-9DEEA99AB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48550"/>
            <a:ext cx="7704000" cy="3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/>
            <a:r>
              <a:rPr lang="de-DE" sz="2400" dirty="0"/>
              <a:t>Vorstellung der Idee</a:t>
            </a:r>
          </a:p>
          <a:p>
            <a:pPr marL="342900" indent="-342900"/>
            <a:r>
              <a:rPr lang="de-DE" sz="2400" dirty="0"/>
              <a:t>Case Study &amp; Use Cases</a:t>
            </a:r>
          </a:p>
          <a:p>
            <a:pPr marL="342900" indent="-342900"/>
            <a:r>
              <a:rPr lang="de-DE" sz="2400" dirty="0"/>
              <a:t>Umsetzung &amp; Verbesserungen</a:t>
            </a:r>
          </a:p>
          <a:p>
            <a:pPr marL="342900" indent="-342900"/>
            <a:r>
              <a:rPr lang="de-DE" sz="2400" dirty="0"/>
              <a:t>ERD &amp; PDM</a:t>
            </a:r>
          </a:p>
          <a:p>
            <a:pPr marL="342900" indent="-342900"/>
            <a:r>
              <a:rPr lang="de-DE" sz="2400" dirty="0"/>
              <a:t>Demonstration via </a:t>
            </a:r>
            <a:r>
              <a:rPr lang="de-DE" sz="2400" dirty="0" err="1"/>
              <a:t>WebApp</a:t>
            </a:r>
            <a:r>
              <a:rPr lang="de-DE" sz="2400" dirty="0"/>
              <a:t> &amp; SQL Developer</a:t>
            </a:r>
          </a:p>
          <a:p>
            <a:pPr marL="342900" indent="-342900"/>
            <a:r>
              <a:rPr lang="de-DE" sz="2400" dirty="0"/>
              <a:t>Selbstreflexion zum Projekt</a:t>
            </a:r>
          </a:p>
          <a:p>
            <a:pPr marL="0" indent="0">
              <a:buNone/>
            </a:pP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084524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FB2B783-7B12-5BCF-6343-E18B0B74E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931BE82C-E6EB-B615-08C5-7448893BDD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1434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IDEE</a:t>
            </a:r>
            <a:endParaRPr sz="5400" dirty="0"/>
          </a:p>
        </p:txBody>
      </p:sp>
      <p:pic>
        <p:nvPicPr>
          <p:cNvPr id="4" name="Google Shape;130;p32">
            <a:extLst>
              <a:ext uri="{FF2B5EF4-FFF2-40B4-BE49-F238E27FC236}">
                <a16:creationId xmlns:a16="http://schemas.microsoft.com/office/drawing/2014/main" id="{D2AE95A5-4512-C38F-7703-8850F533C9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9839"/>
          <a:stretch/>
        </p:blipFill>
        <p:spPr>
          <a:xfrm>
            <a:off x="6604900" y="-27775"/>
            <a:ext cx="2388624" cy="33948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011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IDEE</a:t>
            </a:r>
            <a:endParaRPr dirty="0"/>
          </a:p>
        </p:txBody>
      </p:sp>
      <p:sp>
        <p:nvSpPr>
          <p:cNvPr id="143" name="Google Shape;143;p33"/>
          <p:cNvSpPr txBox="1">
            <a:spLocks noGrp="1"/>
          </p:cNvSpPr>
          <p:nvPr>
            <p:ph type="body" idx="1"/>
          </p:nvPr>
        </p:nvSpPr>
        <p:spPr>
          <a:xfrm>
            <a:off x="720000" y="1048550"/>
            <a:ext cx="7704000" cy="3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de-DE" sz="1600" dirty="0">
                <a:solidFill>
                  <a:schemeClr val="lt1"/>
                </a:solidFill>
              </a:rPr>
              <a:t>Verwaltung von Städten auf dem Mars</a:t>
            </a:r>
            <a:endParaRPr lang="de-DE" sz="1600" dirty="0"/>
          </a:p>
          <a:p>
            <a:pPr marL="628650" lvl="1" indent="-171450">
              <a:buFontTx/>
              <a:buChar char="-"/>
            </a:pPr>
            <a:r>
              <a:rPr lang="de-DE" dirty="0">
                <a:solidFill>
                  <a:schemeClr val="lt1"/>
                </a:solidFill>
              </a:rPr>
              <a:t>Transportwege zwischen den Städten und Lager (einzelne Routen)</a:t>
            </a:r>
          </a:p>
          <a:p>
            <a:pPr marL="628650" lvl="1" indent="-171450">
              <a:buFontTx/>
              <a:buChar char="-"/>
            </a:pPr>
            <a:r>
              <a:rPr lang="de-DE" dirty="0">
                <a:solidFill>
                  <a:schemeClr val="lt1"/>
                </a:solidFill>
              </a:rPr>
              <a:t>Bewohner der Städte</a:t>
            </a:r>
          </a:p>
          <a:p>
            <a:pPr marL="628650" lvl="1" indent="-171450">
              <a:buFontTx/>
              <a:buChar char="-"/>
            </a:pPr>
            <a:r>
              <a:rPr lang="de-DE" dirty="0"/>
              <a:t>Ressourcengewinnung (z.B. Wasser) für die einzelnen Städte</a:t>
            </a:r>
          </a:p>
          <a:p>
            <a:pPr marL="628650" lvl="1" indent="-171450">
              <a:buFontTx/>
              <a:buChar char="-"/>
            </a:pPr>
            <a:r>
              <a:rPr lang="de-DE" dirty="0"/>
              <a:t>Allgemeine Infos zur Logistikverwaltung</a:t>
            </a:r>
          </a:p>
          <a:p>
            <a:pPr marL="1085850" lvl="2" indent="-171450">
              <a:buFontTx/>
              <a:buChar char="-"/>
            </a:pPr>
            <a:r>
              <a:rPr lang="de-DE" dirty="0"/>
              <a:t>Fahrzeuge / Raumschiffe</a:t>
            </a:r>
          </a:p>
          <a:p>
            <a:pPr marL="1085850" lvl="2" indent="-171450">
              <a:buFontTx/>
              <a:buChar char="-"/>
            </a:pPr>
            <a:r>
              <a:rPr lang="de-DE" dirty="0"/>
              <a:t>Energiequellen</a:t>
            </a:r>
          </a:p>
          <a:p>
            <a:pPr marL="1085850" lvl="2" indent="-171450">
              <a:buFontTx/>
              <a:buChar char="-"/>
            </a:pPr>
            <a:r>
              <a:rPr lang="de-DE" dirty="0"/>
              <a:t>Mitarbeiter</a:t>
            </a:r>
          </a:p>
          <a:p>
            <a:pPr marL="1543050" lvl="3" indent="-171450">
              <a:buFontTx/>
              <a:buChar char="-"/>
            </a:pPr>
            <a:r>
              <a:rPr lang="de-DE" dirty="0"/>
              <a:t>Abteilung (auch Ressourcengewinnung)</a:t>
            </a:r>
          </a:p>
          <a:p>
            <a:pPr marL="1543050" lvl="3" indent="-171450">
              <a:buFontTx/>
              <a:buChar char="-"/>
            </a:pPr>
            <a:r>
              <a:rPr lang="de-DE" dirty="0"/>
              <a:t>Berufung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CCEF472-B266-AF28-CC40-3F6F55CA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4765909A-3AD2-2B5E-F6A2-F5F47BC992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1434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Case Study</a:t>
            </a:r>
            <a:br>
              <a:rPr lang="en" sz="5400" dirty="0"/>
            </a:br>
            <a:r>
              <a:rPr lang="en" sz="5400" dirty="0"/>
              <a:t>&amp;</a:t>
            </a:r>
            <a:br>
              <a:rPr lang="en" sz="5400" dirty="0"/>
            </a:br>
            <a:r>
              <a:rPr lang="en" sz="5400" dirty="0"/>
              <a:t>Use Cases</a:t>
            </a:r>
            <a:endParaRPr sz="5400" dirty="0"/>
          </a:p>
        </p:txBody>
      </p:sp>
      <p:pic>
        <p:nvPicPr>
          <p:cNvPr id="4" name="Google Shape;130;p32">
            <a:extLst>
              <a:ext uri="{FF2B5EF4-FFF2-40B4-BE49-F238E27FC236}">
                <a16:creationId xmlns:a16="http://schemas.microsoft.com/office/drawing/2014/main" id="{17638155-CEEB-4F15-ED64-E8211E288E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9839"/>
          <a:stretch/>
        </p:blipFill>
        <p:spPr>
          <a:xfrm>
            <a:off x="0" y="1665797"/>
            <a:ext cx="2388624" cy="33948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10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37674C2-3278-A36F-3DF2-73CB19195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3F641B2D-4C95-3CF4-D6D9-B8E46FE2B0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8711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 Cases</a:t>
            </a:r>
            <a:endParaRPr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C3C73EE-9323-7E58-190A-4B55F4B039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50325" y="0"/>
            <a:ext cx="52936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41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035F6EE-BAA2-3EEC-928F-D2A3F16B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BCA21B73-083A-2F8E-178A-87E3818DAF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1. </a:t>
            </a:r>
            <a:r>
              <a:rPr lang="de-DE" dirty="0"/>
              <a:t>Ausgangslage &amp; Problemstellung</a:t>
            </a:r>
            <a:endParaRPr dirty="0"/>
          </a:p>
        </p:txBody>
      </p:sp>
      <p:sp>
        <p:nvSpPr>
          <p:cNvPr id="143" name="Google Shape;143;p33">
            <a:extLst>
              <a:ext uri="{FF2B5EF4-FFF2-40B4-BE49-F238E27FC236}">
                <a16:creationId xmlns:a16="http://schemas.microsoft.com/office/drawing/2014/main" id="{DDB3700E-5E9A-C59E-39A4-FFBED92E5B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48550"/>
            <a:ext cx="7704000" cy="3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Tx/>
              <a:buChar char="-"/>
            </a:pPr>
            <a:r>
              <a:rPr lang="de-DE" sz="1600" dirty="0"/>
              <a:t>100% angewiesen auf lokale Vorräte (Sauerstoff, Wasser, Erze) und seltene Erd-Lieferungen.</a:t>
            </a:r>
          </a:p>
          <a:p>
            <a:pPr marL="171450" lvl="0" indent="-171450">
              <a:buFontTx/>
              <a:buChar char="-"/>
            </a:pPr>
            <a:endParaRPr lang="de-DE" sz="1600" dirty="0"/>
          </a:p>
          <a:p>
            <a:pPr marL="171450" lvl="0" indent="-171450">
              <a:buFontTx/>
              <a:buChar char="-"/>
            </a:pPr>
            <a:r>
              <a:rPr lang="de-DE" sz="1600" dirty="0"/>
              <a:t>Fragmentierte Systeme und manuelle Erfassung führen zu Intransparenz.</a:t>
            </a:r>
          </a:p>
          <a:p>
            <a:pPr marL="171450" lvl="0" indent="-171450">
              <a:buFontTx/>
              <a:buChar char="-"/>
            </a:pPr>
            <a:endParaRPr lang="de-DE" sz="1600" dirty="0"/>
          </a:p>
          <a:p>
            <a:pPr marL="171450" lvl="0" indent="-171450">
              <a:buFontTx/>
              <a:buChar char="-"/>
            </a:pPr>
            <a:r>
              <a:rPr lang="de-DE" sz="1600" dirty="0"/>
              <a:t>Lange Lieferzeiten (Erde-Mars) verhindern kurzfristige Korrekturen bei Fehlplanungen.</a:t>
            </a:r>
          </a:p>
        </p:txBody>
      </p:sp>
    </p:spTree>
    <p:extLst>
      <p:ext uri="{BB962C8B-B14F-4D97-AF65-F5344CB8AC3E}">
        <p14:creationId xmlns:p14="http://schemas.microsoft.com/office/powerpoint/2010/main" val="1555662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B7B4EAD-F6CB-6C84-5D2F-D4621FC56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FDDA4FE1-068D-ABD0-969E-97B60F3391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de-DE" dirty="0"/>
              <a:t>2. Die kritischen Risiken</a:t>
            </a:r>
            <a:endParaRPr dirty="0"/>
          </a:p>
        </p:txBody>
      </p:sp>
      <p:sp>
        <p:nvSpPr>
          <p:cNvPr id="143" name="Google Shape;143;p33">
            <a:extLst>
              <a:ext uri="{FF2B5EF4-FFF2-40B4-BE49-F238E27FC236}">
                <a16:creationId xmlns:a16="http://schemas.microsoft.com/office/drawing/2014/main" id="{2021432A-0AC0-1B74-0F5F-16B162F2A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48550"/>
            <a:ext cx="7704000" cy="3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Tx/>
              <a:buChar char="-"/>
            </a:pPr>
            <a:r>
              <a:rPr lang="de-DE" sz="1600" dirty="0"/>
              <a:t>Unvorhergesehene Knappheit lebensnotwendiger Güter.</a:t>
            </a:r>
          </a:p>
          <a:p>
            <a:pPr marL="171450" lvl="0" indent="-171450">
              <a:buFontTx/>
              <a:buChar char="-"/>
            </a:pPr>
            <a:endParaRPr lang="de-DE" sz="1600" dirty="0"/>
          </a:p>
          <a:p>
            <a:pPr marL="171450" lvl="0" indent="-171450">
              <a:buFontTx/>
              <a:buChar char="-"/>
            </a:pPr>
            <a:r>
              <a:rPr lang="de-DE" sz="1600" dirty="0"/>
              <a:t>Unnötige Überbestände blockieren begrenzten Lagerraum und binden wertvolle Arbeitskraft.</a:t>
            </a:r>
          </a:p>
        </p:txBody>
      </p:sp>
    </p:spTree>
    <p:extLst>
      <p:ext uri="{BB962C8B-B14F-4D97-AF65-F5344CB8AC3E}">
        <p14:creationId xmlns:p14="http://schemas.microsoft.com/office/powerpoint/2010/main" val="3825764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A22D2B9-9EF4-0CF9-DC4D-70AFDC76D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DAA3502B-0A90-C64F-2883-DFC7D915B6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de-DE" dirty="0"/>
              <a:t>3. Zielsetzung des neuen Systems</a:t>
            </a:r>
            <a:endParaRPr dirty="0"/>
          </a:p>
        </p:txBody>
      </p:sp>
      <p:sp>
        <p:nvSpPr>
          <p:cNvPr id="143" name="Google Shape;143;p33">
            <a:extLst>
              <a:ext uri="{FF2B5EF4-FFF2-40B4-BE49-F238E27FC236}">
                <a16:creationId xmlns:a16="http://schemas.microsoft.com/office/drawing/2014/main" id="{46325A3E-A2FC-8498-A5EF-5EE8A1835E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48550"/>
            <a:ext cx="7704000" cy="3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Tx/>
              <a:buChar char="-"/>
            </a:pPr>
            <a:r>
              <a:rPr lang="de-DE" sz="1600" dirty="0"/>
              <a:t>Datenbankgestützte Überwachung aller Warenbewegungen und Bestände.</a:t>
            </a:r>
          </a:p>
          <a:p>
            <a:pPr marL="171450" lvl="0" indent="-171450">
              <a:buFontTx/>
              <a:buChar char="-"/>
            </a:pPr>
            <a:endParaRPr lang="de-DE" sz="1600" dirty="0"/>
          </a:p>
          <a:p>
            <a:pPr marL="171450" lvl="0" indent="-171450">
              <a:buFontTx/>
              <a:buChar char="-"/>
            </a:pPr>
            <a:r>
              <a:rPr lang="de-DE" sz="1600" dirty="0"/>
              <a:t>Strukturierte Erfassung von Bewohnern und Tätigkeiten zur optimierten Arbeitszeiteinteilung.</a:t>
            </a:r>
          </a:p>
          <a:p>
            <a:pPr marL="171450" lvl="0" indent="-171450">
              <a:buFontTx/>
              <a:buChar char="-"/>
            </a:pPr>
            <a:endParaRPr lang="de-DE" sz="1600" dirty="0"/>
          </a:p>
          <a:p>
            <a:pPr marL="171450" lvl="0" indent="-171450">
              <a:buFontTx/>
              <a:buChar char="-"/>
            </a:pPr>
            <a:r>
              <a:rPr lang="de-DE" sz="1600" dirty="0"/>
              <a:t>Datengestützte Entscheidungsbasis zur Vermeidung existenzieller Versorgungsengpässe.</a:t>
            </a:r>
          </a:p>
        </p:txBody>
      </p:sp>
    </p:spTree>
    <p:extLst>
      <p:ext uri="{BB962C8B-B14F-4D97-AF65-F5344CB8AC3E}">
        <p14:creationId xmlns:p14="http://schemas.microsoft.com/office/powerpoint/2010/main" val="1306619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C7852DC-1B16-D627-39B7-5B2602FA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ADD1CE31-5B76-7B2F-024D-0B036EBA6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1434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Umsetzung</a:t>
            </a:r>
            <a:br>
              <a:rPr lang="en" sz="5400" dirty="0"/>
            </a:br>
            <a:r>
              <a:rPr lang="en" sz="5400" dirty="0"/>
              <a:t>&amp;</a:t>
            </a:r>
            <a:br>
              <a:rPr lang="en" sz="5400" dirty="0"/>
            </a:br>
            <a:r>
              <a:rPr lang="en" sz="5400" dirty="0"/>
              <a:t>Verbesserungen</a:t>
            </a:r>
            <a:endParaRPr sz="5400" dirty="0"/>
          </a:p>
        </p:txBody>
      </p:sp>
      <p:pic>
        <p:nvPicPr>
          <p:cNvPr id="4" name="Google Shape;130;p32">
            <a:extLst>
              <a:ext uri="{FF2B5EF4-FFF2-40B4-BE49-F238E27FC236}">
                <a16:creationId xmlns:a16="http://schemas.microsoft.com/office/drawing/2014/main" id="{44FFBFB5-C872-BD1D-8E50-6ED16100BC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9839"/>
          <a:stretch/>
        </p:blipFill>
        <p:spPr>
          <a:xfrm>
            <a:off x="6695052" y="0"/>
            <a:ext cx="2388624" cy="33948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685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A781C8C-737C-8352-1722-DAF54588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96357CF6-3B8F-BD5B-28C9-3D3EECC8BB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Umsetzung &amp; Verbesserungen</a:t>
            </a:r>
            <a:endParaRPr dirty="0"/>
          </a:p>
        </p:txBody>
      </p:sp>
      <p:sp>
        <p:nvSpPr>
          <p:cNvPr id="143" name="Google Shape;143;p33">
            <a:extLst>
              <a:ext uri="{FF2B5EF4-FFF2-40B4-BE49-F238E27FC236}">
                <a16:creationId xmlns:a16="http://schemas.microsoft.com/office/drawing/2014/main" id="{30BD3CF6-E80A-93C9-FC63-A1B58F78C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48550"/>
            <a:ext cx="7704000" cy="3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de-DE" sz="1600" dirty="0"/>
              <a:t>Allgemein:</a:t>
            </a:r>
          </a:p>
          <a:p>
            <a:pPr marL="628650" lvl="1" indent="-171450">
              <a:buFontTx/>
              <a:buChar char="-"/>
            </a:pPr>
            <a:r>
              <a:rPr lang="de-DE" sz="1800" dirty="0"/>
              <a:t>Vom Allgemeinen zum Speziellen: Begonnen als universelles Verwaltungstool, später gezielte Neuausrichtung auf Logistik.</a:t>
            </a:r>
          </a:p>
          <a:p>
            <a:pPr marL="628650" lvl="1" indent="-171450">
              <a:buFontTx/>
              <a:buChar char="-"/>
            </a:pPr>
            <a:r>
              <a:rPr lang="de-DE" sz="1800" dirty="0"/>
              <a:t>Daten-Evolution: Erstellung einer ersten Grundstruktur (ERD), die nach dem Fokuswechsel komplett auf logistische Abläufe optimiert wurde.</a:t>
            </a:r>
          </a:p>
          <a:p>
            <a:pPr marL="628650" lvl="1" indent="-171450">
              <a:buFontTx/>
              <a:buChar char="-"/>
            </a:pPr>
            <a:r>
              <a:rPr lang="de-DE" sz="1800" dirty="0"/>
              <a:t>Starke Vernetzung: Besonderes Augenmerk auf die Transport-Logik – alle Daten (Fahrzeuge, Routen, Waren) sind sauber und logisch miteinander verknüpft.</a:t>
            </a:r>
            <a:endParaRPr lang="de-DE" sz="16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427494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0EE7A93-8DCF-9E11-DC1A-F8E57E959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7EBDF682-347D-630C-C8B4-D4CCF6A3A5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Umsetzung &amp; Verbesserungen</a:t>
            </a:r>
            <a:endParaRPr dirty="0"/>
          </a:p>
        </p:txBody>
      </p:sp>
      <p:sp>
        <p:nvSpPr>
          <p:cNvPr id="143" name="Google Shape;143;p33">
            <a:extLst>
              <a:ext uri="{FF2B5EF4-FFF2-40B4-BE49-F238E27FC236}">
                <a16:creationId xmlns:a16="http://schemas.microsoft.com/office/drawing/2014/main" id="{CCDD17BD-9BAE-8A62-176D-76D85A9E9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48550"/>
            <a:ext cx="7704000" cy="3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Tx/>
              <a:buChar char="-"/>
            </a:pPr>
            <a:r>
              <a:rPr lang="de-DE" sz="1600" dirty="0" err="1"/>
              <a:t>WebApp</a:t>
            </a:r>
            <a:r>
              <a:rPr lang="de-DE" sz="1600" dirty="0"/>
              <a:t> mit </a:t>
            </a:r>
            <a:r>
              <a:rPr lang="de-DE" sz="1600" dirty="0" err="1"/>
              <a:t>TypeScript</a:t>
            </a:r>
            <a:r>
              <a:rPr lang="de-DE" sz="1600" dirty="0"/>
              <a:t> im frontend &amp; </a:t>
            </a:r>
            <a:r>
              <a:rPr lang="de-DE" sz="1600" dirty="0" err="1"/>
              <a:t>php</a:t>
            </a:r>
            <a:r>
              <a:rPr lang="de-DE" sz="1600" dirty="0"/>
              <a:t> im Backend:</a:t>
            </a:r>
          </a:p>
          <a:p>
            <a:pPr marL="628650" lvl="1" indent="-171450">
              <a:buFontTx/>
              <a:buChar char="-"/>
            </a:pPr>
            <a:r>
              <a:rPr lang="de-DE" sz="1800" dirty="0"/>
              <a:t>Abfragen für die Datenbank erfolgen per </a:t>
            </a:r>
            <a:r>
              <a:rPr lang="de-DE" sz="1800" dirty="0" err="1"/>
              <a:t>RestAPI</a:t>
            </a:r>
            <a:endParaRPr lang="de-DE" sz="1800" dirty="0"/>
          </a:p>
          <a:p>
            <a:pPr marL="628650" lvl="1" indent="-171450">
              <a:buFontTx/>
              <a:buChar char="-"/>
            </a:pPr>
            <a:r>
              <a:rPr lang="de-DE" sz="1800" dirty="0" err="1"/>
              <a:t>RestAPI</a:t>
            </a:r>
            <a:r>
              <a:rPr lang="de-DE" sz="1800" dirty="0"/>
              <a:t> liefert nur JSON zurück </a:t>
            </a:r>
          </a:p>
          <a:p>
            <a:pPr marL="628650" lvl="1" indent="-171450">
              <a:buFontTx/>
              <a:buChar char="-"/>
            </a:pPr>
            <a:r>
              <a:rPr lang="de-DE" sz="1800" dirty="0"/>
              <a:t>Die </a:t>
            </a:r>
            <a:r>
              <a:rPr lang="de-DE" sz="1800" dirty="0" err="1"/>
              <a:t>RestAPI</a:t>
            </a:r>
            <a:r>
              <a:rPr lang="de-DE" sz="1800" dirty="0"/>
              <a:t> kann vorgefertigte Aktionen oder .</a:t>
            </a:r>
            <a:r>
              <a:rPr lang="de-DE" sz="1800" dirty="0" err="1"/>
              <a:t>sql</a:t>
            </a:r>
            <a:r>
              <a:rPr lang="de-DE" sz="1800" dirty="0"/>
              <a:t> Dateien ausführen und dessen Resultate per JSON zurückgeben</a:t>
            </a:r>
          </a:p>
        </p:txBody>
      </p:sp>
    </p:spTree>
    <p:extLst>
      <p:ext uri="{BB962C8B-B14F-4D97-AF65-F5344CB8AC3E}">
        <p14:creationId xmlns:p14="http://schemas.microsoft.com/office/powerpoint/2010/main" val="2293616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41F5698-2647-997B-7BB0-F107866B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19FA8AB9-BF06-B68B-8E8A-8B800CEA56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1434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ERD &amp; PDM</a:t>
            </a:r>
            <a:endParaRPr sz="5400" dirty="0"/>
          </a:p>
        </p:txBody>
      </p:sp>
      <p:pic>
        <p:nvPicPr>
          <p:cNvPr id="4" name="Google Shape;130;p32">
            <a:extLst>
              <a:ext uri="{FF2B5EF4-FFF2-40B4-BE49-F238E27FC236}">
                <a16:creationId xmlns:a16="http://schemas.microsoft.com/office/drawing/2014/main" id="{2DFB4683-5212-9A13-2B36-E0D1B79976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9839"/>
          <a:stretch/>
        </p:blipFill>
        <p:spPr>
          <a:xfrm>
            <a:off x="6695052" y="0"/>
            <a:ext cx="2388624" cy="33948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4175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876C153-5C4F-DAE6-3D2E-523267D9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B4BDB78F-DB0E-6C7E-F0CF-4C41581145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ERD</a:t>
            </a: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6FD76BA-DFC8-1AB7-7405-336ADDBEE7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25560" y="0"/>
            <a:ext cx="6518440" cy="512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70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E6E57BE-2FDF-2297-0DB2-83A5D2139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10C11826-A6EF-1226-5BE2-17EEFFCE0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PDM</a:t>
            </a:r>
            <a:endParaRPr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592D23D-CDF6-10C6-1BEF-800EC70607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74224" y="1"/>
            <a:ext cx="6469776" cy="512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76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79FAA8B-A952-0536-B9F2-197CB535A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69820FFB-6047-AE49-B9A8-771732875F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1434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WebApp </a:t>
            </a:r>
            <a:br>
              <a:rPr lang="en" sz="5400" dirty="0"/>
            </a:br>
            <a:r>
              <a:rPr lang="en" sz="5400" dirty="0"/>
              <a:t>Demo</a:t>
            </a:r>
            <a:endParaRPr sz="5400" dirty="0"/>
          </a:p>
        </p:txBody>
      </p:sp>
      <p:pic>
        <p:nvPicPr>
          <p:cNvPr id="5" name="Google Shape;131;p32">
            <a:extLst>
              <a:ext uri="{FF2B5EF4-FFF2-40B4-BE49-F238E27FC236}">
                <a16:creationId xmlns:a16="http://schemas.microsoft.com/office/drawing/2014/main" id="{51D4E859-4EB0-473D-1C16-AF58836FAF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168" b="21833"/>
          <a:stretch/>
        </p:blipFill>
        <p:spPr>
          <a:xfrm>
            <a:off x="6604900" y="1256237"/>
            <a:ext cx="2539101" cy="2520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2;p32">
            <a:extLst>
              <a:ext uri="{FF2B5EF4-FFF2-40B4-BE49-F238E27FC236}">
                <a16:creationId xmlns:a16="http://schemas.microsoft.com/office/drawing/2014/main" id="{2328BE05-606C-73E9-04DD-01B25E530D2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2126" y="1989956"/>
            <a:ext cx="1711874" cy="34712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4733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8ADC258-FE8D-B447-9A3E-304E2D20D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C411E13A-0192-ECDC-D1C5-20E64459F3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1.</a:t>
            </a:r>
            <a:r>
              <a:rPr lang="de-DE" b="1" dirty="0"/>
              <a:t> Frontend (</a:t>
            </a:r>
            <a:r>
              <a:rPr lang="de-DE" b="1" dirty="0" err="1"/>
              <a:t>TypeScript</a:t>
            </a:r>
            <a:r>
              <a:rPr lang="de-DE" b="1" dirty="0"/>
              <a:t>)</a:t>
            </a:r>
            <a:endParaRPr dirty="0"/>
          </a:p>
        </p:txBody>
      </p:sp>
      <p:sp>
        <p:nvSpPr>
          <p:cNvPr id="143" name="Google Shape;143;p33">
            <a:extLst>
              <a:ext uri="{FF2B5EF4-FFF2-40B4-BE49-F238E27FC236}">
                <a16:creationId xmlns:a16="http://schemas.microsoft.com/office/drawing/2014/main" id="{D3C697AD-3D48-81C6-94C4-B3FBC7B3C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48550"/>
            <a:ext cx="7704000" cy="3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b="1" dirty="0"/>
              <a:t>Frontend (</a:t>
            </a:r>
            <a:r>
              <a:rPr lang="de-DE" b="1" dirty="0" err="1"/>
              <a:t>TypeScript</a:t>
            </a:r>
            <a:r>
              <a:rPr lang="de-DE" b="1" dirty="0"/>
              <a:t>)</a:t>
            </a:r>
          </a:p>
          <a:p>
            <a:pPr lvl="1"/>
            <a:r>
              <a:rPr lang="de-DE" b="1" dirty="0"/>
              <a:t>Typisierte API-Kommunikation:</a:t>
            </a:r>
            <a:r>
              <a:rPr lang="de-DE" dirty="0"/>
              <a:t> Nutzung von Interfaces, damit das Frontend genau weiß, wie die JSON-Daten vom Backend aussehen (verhindert Fehler beim Zugriff auf Datenfelder).</a:t>
            </a:r>
          </a:p>
          <a:p>
            <a:pPr lvl="1"/>
            <a:r>
              <a:rPr lang="de-DE" b="1" dirty="0"/>
              <a:t>Zentraler API-Service:</a:t>
            </a:r>
            <a:r>
              <a:rPr lang="de-DE" dirty="0"/>
              <a:t> Ein Modul, das alle Anfragen (GET, POST) bündelt und sich automatisch um die Header und die Fehlerbehandlung kümmert.</a:t>
            </a:r>
          </a:p>
          <a:p>
            <a:pPr lvl="1"/>
            <a:r>
              <a:rPr lang="de-DE" b="1" dirty="0"/>
              <a:t>Token-Handling:</a:t>
            </a:r>
            <a:r>
              <a:rPr lang="de-DE" dirty="0"/>
              <a:t> Das CSRF-Token wird sicher ausgelesen und bei jeder schreibenden Anfrage automatisch im HTTP-Header mitgeschickt.</a:t>
            </a:r>
          </a:p>
        </p:txBody>
      </p:sp>
    </p:spTree>
    <p:extLst>
      <p:ext uri="{BB962C8B-B14F-4D97-AF65-F5344CB8AC3E}">
        <p14:creationId xmlns:p14="http://schemas.microsoft.com/office/powerpoint/2010/main" val="574686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0179EC7B-C2B1-5831-34F3-7DFA82E6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8CC240E3-A479-73F1-C7E4-D757D9A784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2. </a:t>
            </a:r>
            <a:r>
              <a:rPr lang="de-DE" b="1" dirty="0"/>
              <a:t>Backend (PHP)</a:t>
            </a:r>
            <a:endParaRPr dirty="0"/>
          </a:p>
        </p:txBody>
      </p:sp>
      <p:sp>
        <p:nvSpPr>
          <p:cNvPr id="143" name="Google Shape;143;p33">
            <a:extLst>
              <a:ext uri="{FF2B5EF4-FFF2-40B4-BE49-F238E27FC236}">
                <a16:creationId xmlns:a16="http://schemas.microsoft.com/office/drawing/2014/main" id="{FE85F512-FA0D-497B-0044-9F9985B1B6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48550"/>
            <a:ext cx="7704000" cy="3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b="1" dirty="0"/>
              <a:t>Backend (PHP)</a:t>
            </a:r>
          </a:p>
          <a:p>
            <a:pPr lvl="1"/>
            <a:r>
              <a:rPr lang="de-DE" b="1" dirty="0"/>
              <a:t>JSON-</a:t>
            </a:r>
            <a:r>
              <a:rPr lang="de-DE" b="1" dirty="0" err="1"/>
              <a:t>only</a:t>
            </a:r>
            <a:r>
              <a:rPr lang="de-DE" b="1" dirty="0"/>
              <a:t> API:</a:t>
            </a:r>
            <a:r>
              <a:rPr lang="de-DE" dirty="0"/>
              <a:t> Das Backend dient rein als Datenlieferant. Es gibt kein HTML aus, sondern setzt den Content-Type fest auf </a:t>
            </a:r>
            <a:r>
              <a:rPr lang="de-DE" dirty="0" err="1"/>
              <a:t>application</a:t>
            </a:r>
            <a:r>
              <a:rPr lang="de-DE" dirty="0"/>
              <a:t>/</a:t>
            </a:r>
            <a:r>
              <a:rPr lang="de-DE" dirty="0" err="1"/>
              <a:t>json</a:t>
            </a:r>
            <a:r>
              <a:rPr lang="de-DE" dirty="0"/>
              <a:t>.</a:t>
            </a:r>
          </a:p>
          <a:p>
            <a:pPr lvl="1"/>
            <a:r>
              <a:rPr lang="de-DE" b="1" dirty="0"/>
              <a:t>Sicherer SQL-</a:t>
            </a:r>
            <a:r>
              <a:rPr lang="de-DE" b="1" dirty="0" err="1"/>
              <a:t>Executor</a:t>
            </a:r>
            <a:r>
              <a:rPr lang="de-DE" b="1" dirty="0"/>
              <a:t>:</a:t>
            </a:r>
            <a:r>
              <a:rPr lang="de-DE" dirty="0"/>
              <a:t> Ein Mechanismus, der vordefinierte SQL-Dateien einliest. Dabei werden Benutzereingaben strikt über </a:t>
            </a:r>
            <a:r>
              <a:rPr lang="de-DE" b="1" dirty="0" err="1"/>
              <a:t>Prepared</a:t>
            </a:r>
            <a:r>
              <a:rPr lang="de-DE" b="1" dirty="0"/>
              <a:t> Statements</a:t>
            </a:r>
            <a:r>
              <a:rPr lang="de-DE" dirty="0"/>
              <a:t> getrennt, um SQL-</a:t>
            </a:r>
            <a:r>
              <a:rPr lang="de-DE" dirty="0" err="1"/>
              <a:t>Injection</a:t>
            </a:r>
            <a:r>
              <a:rPr lang="de-DE" dirty="0"/>
              <a:t> zu verhindern.</a:t>
            </a:r>
          </a:p>
          <a:p>
            <a:pPr lvl="1"/>
            <a:r>
              <a:rPr lang="de-DE" b="1" dirty="0"/>
              <a:t>Zentrale Routen-Steuerung:</a:t>
            </a:r>
            <a:r>
              <a:rPr lang="de-DE" dirty="0"/>
              <a:t> Ein einfacher Controller entscheidet anhand der Anfrage, welche „Aktion“ oder welche .</a:t>
            </a:r>
            <a:r>
              <a:rPr lang="de-DE" dirty="0" err="1"/>
              <a:t>sql</a:t>
            </a:r>
            <a:r>
              <a:rPr lang="de-DE" dirty="0"/>
              <a:t>-Datei geladen und ausgeführt werden soll.</a:t>
            </a:r>
          </a:p>
        </p:txBody>
      </p:sp>
    </p:spTree>
    <p:extLst>
      <p:ext uri="{BB962C8B-B14F-4D97-AF65-F5344CB8AC3E}">
        <p14:creationId xmlns:p14="http://schemas.microsoft.com/office/powerpoint/2010/main" val="4144699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3861529-E8A3-A428-FF95-DAD8E92F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D9E3A8B4-0B3F-E12A-811D-3BC2A04CA1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de-DE" dirty="0"/>
              <a:t>3. </a:t>
            </a:r>
            <a:r>
              <a:rPr lang="de-DE" b="1" dirty="0"/>
              <a:t>API &amp; Sicherheit</a:t>
            </a:r>
            <a:endParaRPr dirty="0"/>
          </a:p>
        </p:txBody>
      </p:sp>
      <p:sp>
        <p:nvSpPr>
          <p:cNvPr id="143" name="Google Shape;143;p33">
            <a:extLst>
              <a:ext uri="{FF2B5EF4-FFF2-40B4-BE49-F238E27FC236}">
                <a16:creationId xmlns:a16="http://schemas.microsoft.com/office/drawing/2014/main" id="{12841F64-ED11-1C83-8BC0-155806BA2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48550"/>
            <a:ext cx="7704000" cy="3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b="1" dirty="0"/>
              <a:t>API &amp; Sicherheit</a:t>
            </a:r>
          </a:p>
          <a:p>
            <a:pPr lvl="1"/>
            <a:r>
              <a:rPr lang="de-DE" b="1" dirty="0"/>
              <a:t>CSRF-Schutz:</a:t>
            </a:r>
            <a:r>
              <a:rPr lang="de-DE" dirty="0"/>
              <a:t> Eine Überprüfung bei jedem API-Aufruf, die sicherstellt, dass die Anfrage wirklich von deiner </a:t>
            </a:r>
            <a:r>
              <a:rPr lang="de-DE" dirty="0" err="1"/>
              <a:t>WebApp</a:t>
            </a:r>
            <a:r>
              <a:rPr lang="de-DE" dirty="0"/>
              <a:t> kommt und nicht von einer fremden Seite.</a:t>
            </a:r>
          </a:p>
          <a:p>
            <a:pPr lvl="1"/>
            <a:r>
              <a:rPr lang="de-DE" b="1" dirty="0"/>
              <a:t>Standardisierte Antwort-Struktur:</a:t>
            </a:r>
            <a:r>
              <a:rPr lang="de-DE" dirty="0"/>
              <a:t> Jede Antwort sieht gleich aus (immer ein Feld für </a:t>
            </a:r>
            <a:r>
              <a:rPr lang="de-DE" dirty="0" err="1"/>
              <a:t>result</a:t>
            </a:r>
            <a:r>
              <a:rPr lang="de-DE" dirty="0"/>
              <a:t> und eines für </a:t>
            </a:r>
            <a:r>
              <a:rPr lang="de-DE" dirty="0" err="1"/>
              <a:t>status</a:t>
            </a:r>
            <a:r>
              <a:rPr lang="de-DE" dirty="0"/>
              <a:t>), was die Verarbeitung im Frontend extrem vereinfacht.</a:t>
            </a:r>
          </a:p>
          <a:p>
            <a:pPr lvl="1"/>
            <a:r>
              <a:rPr lang="de-DE" b="1" dirty="0"/>
              <a:t>Trennung von Logik und Daten:</a:t>
            </a:r>
            <a:r>
              <a:rPr lang="de-DE" dirty="0"/>
              <a:t> SQL-Befehle liegen nicht direkt im PHP-Code, sondern in eigenen Dateien, was die Wartung und Übersicht verbessert.</a:t>
            </a:r>
          </a:p>
        </p:txBody>
      </p:sp>
    </p:spTree>
    <p:extLst>
      <p:ext uri="{BB962C8B-B14F-4D97-AF65-F5344CB8AC3E}">
        <p14:creationId xmlns:p14="http://schemas.microsoft.com/office/powerpoint/2010/main" val="4168528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22349D5-8A5D-88EF-5A09-433DF59BC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>
            <a:extLst>
              <a:ext uri="{FF2B5EF4-FFF2-40B4-BE49-F238E27FC236}">
                <a16:creationId xmlns:a16="http://schemas.microsoft.com/office/drawing/2014/main" id="{63571DA8-082C-E814-019D-03247D2086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1434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de-DE" sz="5400" dirty="0"/>
              <a:t>Selbstreflexion</a:t>
            </a:r>
            <a:endParaRPr sz="5400" dirty="0"/>
          </a:p>
        </p:txBody>
      </p:sp>
      <p:pic>
        <p:nvPicPr>
          <p:cNvPr id="5" name="Google Shape;133;p32">
            <a:extLst>
              <a:ext uri="{FF2B5EF4-FFF2-40B4-BE49-F238E27FC236}">
                <a16:creationId xmlns:a16="http://schemas.microsoft.com/office/drawing/2014/main" id="{98293001-C9FA-36D9-2EC3-7EEC84A5F7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4781" b="12722"/>
          <a:stretch/>
        </p:blipFill>
        <p:spPr>
          <a:xfrm>
            <a:off x="7431734" y="2438032"/>
            <a:ext cx="1796775" cy="26412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0387612"/>
      </p:ext>
    </p:extLst>
  </p:cSld>
  <p:clrMapOvr>
    <a:masterClrMapping/>
  </p:clrMapOvr>
</p:sld>
</file>

<file path=ppt/theme/theme1.xml><?xml version="1.0" encoding="utf-8"?>
<a:theme xmlns:a="http://schemas.openxmlformats.org/drawingml/2006/main" name="Mars Colonization Thesis by Slidesgo">
  <a:themeElements>
    <a:clrScheme name="Simple Light">
      <a:dk1>
        <a:srgbClr val="5D2D0F"/>
      </a:dk1>
      <a:lt1>
        <a:srgbClr val="FFFFFF"/>
      </a:lt1>
      <a:dk2>
        <a:srgbClr val="8A4506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Microsoft Office PowerPoint</Application>
  <PresentationFormat>Bildschirmpräsentation (16:9)</PresentationFormat>
  <Paragraphs>70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Roboto Condensed Light</vt:lpstr>
      <vt:lpstr>Arial</vt:lpstr>
      <vt:lpstr>Russo One</vt:lpstr>
      <vt:lpstr>Overpass</vt:lpstr>
      <vt:lpstr>Mars Colonization Thesis by Slidesgo</vt:lpstr>
      <vt:lpstr>ARES LOGISTIK VERWALTUNG</vt:lpstr>
      <vt:lpstr>Agenda</vt:lpstr>
      <vt:lpstr>IDEE</vt:lpstr>
      <vt:lpstr>IDEE</vt:lpstr>
      <vt:lpstr>Case Study &amp; Use Cases</vt:lpstr>
      <vt:lpstr>Use Cases</vt:lpstr>
      <vt:lpstr>1. Ausgangslage &amp; Problemstellung</vt:lpstr>
      <vt:lpstr>2. Die kritischen Risiken</vt:lpstr>
      <vt:lpstr>3. Zielsetzung des neuen Systems</vt:lpstr>
      <vt:lpstr>Umsetzung &amp; Verbesserungen</vt:lpstr>
      <vt:lpstr>Umsetzung &amp; Verbesserungen</vt:lpstr>
      <vt:lpstr>Umsetzung &amp; Verbesserungen</vt:lpstr>
      <vt:lpstr>ERD &amp; PDM</vt:lpstr>
      <vt:lpstr>ERD</vt:lpstr>
      <vt:lpstr>PDM</vt:lpstr>
      <vt:lpstr>WebApp  Demo</vt:lpstr>
      <vt:lpstr>1. Frontend (TypeScript)</vt:lpstr>
      <vt:lpstr>2. Backend (PHP)</vt:lpstr>
      <vt:lpstr>3. API &amp; Sicherheit</vt:lpstr>
      <vt:lpstr>Selbstreflexion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CyZe TLC</cp:lastModifiedBy>
  <cp:revision>3</cp:revision>
  <cp:lastPrinted>2025-10-21T10:44:14Z</cp:lastPrinted>
  <dcterms:modified xsi:type="dcterms:W3CDTF">2026-01-13T10:31:32Z</dcterms:modified>
</cp:coreProperties>
</file>